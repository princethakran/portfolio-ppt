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Quarterly comparable sales growth,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MidLine comp sales (%)</c:v>
                </c:pt>
              </c:strCache>
            </c:strRef>
          </c:tx>
          <c:spPr>
            <a:solidFill>
              <a:srgbClr val="D98E31"/>
            </a:solidFill>
            <a:ln w="38100" cap="flat">
              <a:solidFill>
                <a:srgbClr val="D98E3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8E31"/>
              </a:solidFill>
              <a:ln w="9525" cap="flat">
                <a:solidFill>
                  <a:srgbClr val="D98E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Q4 '24</c:v>
                  </c:pt>
                  <c:pt idx="1">
                    <c:v>Q1 '25</c:v>
                  </c:pt>
                  <c:pt idx="2">
                    <c:v>Q2 '25</c:v>
                  </c:pt>
                  <c:pt idx="3">
                    <c:v>Q3 '25</c:v>
                  </c:pt>
                  <c:pt idx="4">
                    <c:v>Q4 '25</c:v>
                  </c:pt>
                  <c:pt idx="5">
                    <c:v>Q1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-1.8</c:v>
                </c:pt>
                <c:pt idx="1">
                  <c:v>-2.6</c:v>
                </c:pt>
                <c:pt idx="2">
                  <c:v>-3.1</c:v>
                </c:pt>
                <c:pt idx="3">
                  <c:v>-3.9</c:v>
                </c:pt>
                <c:pt idx="4">
                  <c:v>-4.7</c:v>
                </c:pt>
                <c:pt idx="5">
                  <c:v>-5.3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F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A82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2A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2A6"/>
                    </a:solidFill>
                    <a:latin typeface="Arial"/>
                  </a:rPr>
                  <a:t>% YoY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6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2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Estimated annual revenue upside by lever, $M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opportunity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Digital
channel</c:v>
                  </c:pt>
                  <c:pt idx="1">
                    <c:v>Store
repositioning</c:v>
                  </c:pt>
                  <c:pt idx="2">
                    <c:v>Loyalty
re-engagement</c:v>
                  </c:pt>
                  <c:pt idx="3">
                    <c:v>Assortment
optimization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27</c:v>
                </c:pt>
                <c:pt idx="2">
                  <c:v>15</c:v>
                </c:pt>
                <c:pt idx="3">
                  <c:v>11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F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A82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6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2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1E2761"/>
                </a:solidFill>
                <a:latin typeface="Calibri"/>
              </a:rPr>
              <a:t>Indexed revenue, current path vs. strategy path (Today = 100)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trajectory</c:v>
                </c:pt>
              </c:strCache>
            </c:strRef>
          </c:tx>
          <c:spPr>
            <a:solidFill>
              <a:srgbClr val="7A82A6"/>
            </a:solidFill>
            <a:ln w="38100" cap="flat">
              <a:solidFill>
                <a:srgbClr val="7A82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82A6"/>
              </a:solidFill>
              <a:ln w="9525" cap="flat">
                <a:solidFill>
                  <a:srgbClr val="7A82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Now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96</c:v>
                </c:pt>
                <c:pt idx="2">
                  <c:v>92</c:v>
                </c:pt>
                <c:pt idx="3">
                  <c:v>89</c:v>
                </c:pt>
                <c:pt idx="4">
                  <c:v>86</c:v>
                </c:pt>
                <c:pt idx="5">
                  <c:v>84</c:v>
                </c:pt>
                <c:pt idx="6">
                  <c:v>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Project Meridian</c:v>
                </c:pt>
              </c:strCache>
            </c:strRef>
          </c:tx>
          <c:spPr>
            <a:solidFill>
              <a:srgbClr val="D98E31"/>
            </a:solidFill>
            <a:ln w="38100" cap="flat">
              <a:solidFill>
                <a:srgbClr val="D98E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E31"/>
              </a:solidFill>
              <a:ln w="9525" cap="flat">
                <a:solidFill>
                  <a:srgbClr val="D98E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Now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98</c:v>
                </c:pt>
                <c:pt idx="2">
                  <c:v>99</c:v>
                </c:pt>
                <c:pt idx="3">
                  <c:v>103</c:v>
                </c:pt>
                <c:pt idx="4">
                  <c:v>108</c:v>
                </c:pt>
                <c:pt idx="5">
                  <c:v>114</c:v>
                </c:pt>
                <c:pt idx="6">
                  <c:v>121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F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A82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6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2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F1F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26337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822960"/>
            <a:ext cx="3108960" cy="3108960"/>
          </a:xfrm>
          <a:prstGeom prst="ellipse">
            <a:avLst/>
          </a:prstGeom>
          <a:solidFill>
            <a:srgbClr val="2C3B8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·  STRATEGY &amp; OPERATIONS PRACTICE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Meridian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Growth &amp; Turnaround Strategy for MidLine Retail Group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Executive Committee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Strategic Review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forces are compressing margins — and a clear path exists to reverse the trend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economics have eroded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Same-store sales fell for four consecutive quarters as e-commerce share of category spend nearly doubled.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three-pillar response is ready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9776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the portfolio, digitize the customer journey, and optimize the cost base — sequenced over 18 months.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 is material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39776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execution is projected to add 6-8 points of EBITDA margin and reverse the sales decline by month 12.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Same-store sales have declined for four straight quarters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MidLine's comparable sales have fallen every quarter since Q4 2024, while digitally-native competitors captured a growing share of category spend. The gap is now wide enough to threaten covenant headroom on the credit facility within two fiscal years if left unaddressed.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00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-11.4%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comp-sales decline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Q4 2024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74920" y="1600200"/>
          <a:ext cx="64465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structural issues are driving the decline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3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Underinvested digital channel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is 9% of revenue vs. a 22% category average, with a checkout flow unchanged since 2021.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3C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1947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footprint mismatch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of 64 stores sit in trade areas that have shifted demographically since lease signing.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3C7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supply chain 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 per unit is up 14% in two years, largely from an outdated regional DC network.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3C7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4892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retention has dropped from 61% to 48%, with no re-engagement program in place.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pillars, sequenced over 18 months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263372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D98E3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or renegotiate 18 underperforming leases; reallocate capital toward the top-quartile trade areas.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263372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86000"/>
            <a:ext cx="640080" cy="640080"/>
          </a:xfrm>
          <a:prstGeom prst="ellipse">
            <a:avLst/>
          </a:prstGeom>
          <a:solidFill>
            <a:srgbClr val="D98E3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37947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checkout and loyalty experience; launch a unified inventory view across stores and web.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263372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286000"/>
            <a:ext cx="640080" cy="640080"/>
          </a:xfrm>
          <a:prstGeom prst="ellipse">
            <a:avLst/>
          </a:prstGeom>
          <a:solidFill>
            <a:srgbClr val="D98E3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37947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the regional DC network from 5 sites to 3; renegotiate freight contracts at scale.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and re-sited stores represent the largest addressable upside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8288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418320" y="182880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revenue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identified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32461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3383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418320" y="338328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e-commerce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to close against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48006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9377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418320" y="4937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DCs after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consolidation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execution reverses the sales decline within 12 months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3152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965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8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+6-8 pts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458200" y="27889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397764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458200" y="4206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8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458200" y="50292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revenue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18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 over 18 months, sequenced to fund themselves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254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1932" y="3044952"/>
            <a:ext cx="402336" cy="402336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41932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1-3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88620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underperforming leases; stand up the DC consolidation plan and loyalty audit.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49140" y="3044952"/>
            <a:ext cx="402336" cy="402336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140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4-9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47288" y="3703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388620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48456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new digital checkout; begin store repositioning and freight renegotiation.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356348" y="3044952"/>
            <a:ext cx="402336" cy="402336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6348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10-14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54496" y="3703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388620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55664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loyalty re-engagement; open first repositioned stores; consolidate to 3 DCs.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0163556" y="3044952"/>
            <a:ext cx="402336" cy="402336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63556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61704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Months 15-18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61704" y="3703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62872" y="388620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62872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new operating cadence; reinvest early margin gains into the next growth horizon.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is designed around three execution risks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691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1691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exits trigger termination costs above plan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19456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exits across 9 months; pre-negotiate break clauses with landlords now.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0" y="219456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29000"/>
            <a:ext cx="10881360" cy="12344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2900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rebuild slips past the holiday peak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42900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checkout in a phased rollout to 10 pilot stores before full launch.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0" y="342900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634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consolidation disrupts fulfillment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466344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dual-site operation for 60 days before decommissioning any facility.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881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4572000" cy="4572000"/>
          </a:xfrm>
          <a:prstGeom prst="ellipse">
            <a:avLst/>
          </a:prstGeom>
          <a:solidFill>
            <a:srgbClr val="2633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needed to launch Phase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D98E3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Phase 1 budget and the 9-month lease exit schedule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D98E3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digital rebuild vendor shortlist by end of month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D98E3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069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phase owners across Real Estate, Digital, and Supply Chain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349240"/>
            <a:ext cx="10881360" cy="0"/>
          </a:xfrm>
          <a:prstGeom prst="line">
            <a:avLst/>
          </a:prstGeom>
          <a:noFill/>
          <a:ln w="12700">
            <a:solidFill>
              <a:srgbClr val="3A47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577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Strategy &amp; Operations Practice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strategy.team@example.com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2026-08-12T14:29:43Z</dcterms:created>
  <dcterms:modified xsi:type="dcterms:W3CDTF">2026-08-12T14:29:43Z</dcterms:modified>
</cp:coreProperties>
</file>